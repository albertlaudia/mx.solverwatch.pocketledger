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F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F44"/>
                </a:solidFill>
                <a:latin typeface="Arial"/>
              </a:rPr>
              <a:t>Net revenue vs gross profit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B89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1F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</c:v>
                </c:pt>
                <c:pt idx="1">
                  <c:v>1.52</c:v>
                </c:pt>
                <c:pt idx="2">
                  <c:v>5.51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0A1F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1F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0.09</c:v>
                </c:pt>
                <c:pt idx="1">
                  <c:v>0.76</c:v>
                </c:pt>
                <c:pt idx="2">
                  <c:v>5.2</c:v>
                </c:pt>
                <c:pt idx="3">
                  <c:v>24.1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1F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5F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B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POCKETLEDGER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money, your model, your phone.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B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private, on-device AI finance notebook the post-Mint generation is asking for.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1097280" cy="0"/>
          </a:xfrm>
          <a:prstGeom prst="line">
            <a:avLst/>
          </a:prstGeom>
          <a:noFill/>
          <a:ln w="25400">
            <a:solidFill>
              <a:srgbClr val="B89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 &amp; technical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NotebookLM-for-finance signal | Q3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XDA headline hid a market.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2025: a tech writer dragged bank statements into a research chatbot, called it brilliant, and the article crossed the personal-finance community in a weekend.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97480" cy="2011680"/>
          </a:xfrm>
          <a:prstGeom prst="rect">
            <a:avLst>
              <a:gd name="adj" fmla="val 4545"/>
            </a:avLst>
          </a:prstGeom>
          <a:solidFill>
            <a:srgbClr val="F5F5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77440"/>
            <a:ext cx="2697480" cy="73152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install to first grounded answer about the user's own money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697480" cy="2011680"/>
          </a:xfrm>
          <a:prstGeom prst="rect">
            <a:avLst>
              <a:gd name="adj" fmla="val 4545"/>
            </a:avLst>
          </a:prstGeom>
          <a:solidFill>
            <a:srgbClr val="F5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377440"/>
            <a:ext cx="2697480" cy="73152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2044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say they are more careful with money than they used to be (Deloitte 2025)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2697480" cy="2011680"/>
          </a:xfrm>
          <a:prstGeom prst="rect">
            <a:avLst>
              <a:gd name="adj" fmla="val 4545"/>
            </a:avLst>
          </a:prstGeom>
          <a:solidFill>
            <a:srgbClr val="F5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377440"/>
            <a:ext cx="2697480" cy="73152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651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and 79% of Millennials are familiar with generative AI (MEXC 2026)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XDA Developers 2025, Deloitte 2025/2026, MEXC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THAT WENT VIRAL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minutes from panic to a model that knows your money.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993392" cy="2377440"/>
          </a:xfrm>
          <a:prstGeom prst="rect">
            <a:avLst>
              <a:gd name="adj" fmla="val 4587"/>
            </a:avLst>
          </a:prstGeom>
          <a:solidFill>
            <a:srgbClr val="F5F5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statements, credit-card PDFs, brokerage summaries -- all as documents.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455164" y="2834640"/>
            <a:ext cx="100584" cy="182880"/>
          </a:xfrm>
          <a:prstGeom prst="rtTriangle">
            <a:avLst/>
          </a:prstGeom>
          <a:solidFill>
            <a:srgbClr val="B8972E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737360"/>
            <a:ext cx="1993392" cy="2377440"/>
          </a:xfrm>
          <a:prstGeom prst="rect">
            <a:avLst>
              <a:gd name="adj" fmla="val 4587"/>
            </a:avLst>
          </a:prstGeom>
          <a:solidFill>
            <a:srgbClr val="F5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920240"/>
            <a:ext cx="457200" cy="45720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97180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doc: "reduce discretionary spend, build a buffer, invest more."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558284" y="2834640"/>
            <a:ext cx="100584" cy="182880"/>
          </a:xfrm>
          <a:prstGeom prst="rtTriangle">
            <a:avLst/>
          </a:prstGeom>
          <a:solidFill>
            <a:srgbClr val="B89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737360"/>
            <a:ext cx="1993392" cy="2377440"/>
          </a:xfrm>
          <a:prstGeom prst="rect">
            <a:avLst>
              <a:gd name="adj" fmla="val 4587"/>
            </a:avLst>
          </a:prstGeom>
          <a:solidFill>
            <a:srgbClr val="F5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920240"/>
            <a:ext cx="457200" cy="45720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frameworks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on budgeting, investing, debt -- so the model knows your lens.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661404" y="2834640"/>
            <a:ext cx="100584" cy="182880"/>
          </a:xfrm>
          <a:prstGeom prst="rtTriangle">
            <a:avLst/>
          </a:prstGeom>
          <a:solidFill>
            <a:srgbClr val="B897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1737360"/>
            <a:ext cx="1993392" cy="2377440"/>
          </a:xfrm>
          <a:prstGeom prst="rect">
            <a:avLst>
              <a:gd name="adj" fmla="val 4587"/>
            </a:avLst>
          </a:prstGeom>
          <a:solidFill>
            <a:srgbClr val="F5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1920240"/>
            <a:ext cx="457200" cy="45720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97180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am I overspending?" "What changed this month?"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548640"/>
          </a:xfrm>
          <a:prstGeom prst="rect">
            <a:avLst>
              <a:gd name="adj" fmla="val 8333"/>
            </a:avLst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research tool, in eight minutes, replaced her budgeting app. That is not a productivity hack. That is a category signal.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SIGNATURE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vectors converge in the same place.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ect">
            <a:avLst>
              <a:gd name="adj" fmla="val 6957"/>
            </a:avLst>
          </a:prstGeom>
          <a:solidFill>
            <a:srgbClr val="F5F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" cy="1051560"/>
          </a:xfrm>
          <a:prstGeom prst="rect">
            <a:avLst>
              <a:gd name="adj" fmla="val 8889"/>
            </a:avLst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post-Mint vacuum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 killed Mint on March 23, 2024. 3.6M users scattered. Monarch grew 20x, but every successor inherited a dashboard, not a dialogue. The user still has to interpret the chart.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051560"/>
          </a:xfrm>
          <a:prstGeom prst="rect">
            <a:avLst>
              <a:gd name="adj" fmla="val 6957"/>
            </a:avLst>
          </a:prstGeom>
          <a:solidFill>
            <a:srgbClr val="F5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97480"/>
            <a:ext cx="822960" cy="1051560"/>
          </a:xfrm>
          <a:prstGeom prst="rect">
            <a:avLst>
              <a:gd name="adj" fmla="val 8889"/>
            </a:avLst>
          </a:prstGeom>
          <a:solidFill>
            <a:srgbClr val="0A1F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Z: mobile-first + AI-fluent + financially anxious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2004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bank on mobile. 80%+ say money causes stress. 84% are familiar with gen AI. 70% are more careful than a year ago. They want a tool that explains, not one that displays.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1051560"/>
          </a:xfrm>
          <a:prstGeom prst="rect">
            <a:avLst>
              <a:gd name="adj" fmla="val 6957"/>
            </a:avLst>
          </a:prstGeom>
          <a:solidFill>
            <a:srgbClr val="F5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840480"/>
            <a:ext cx="822960" cy="1051560"/>
          </a:xfrm>
          <a:prstGeom prst="rect">
            <a:avLst>
              <a:gd name="adj" fmla="val 8889"/>
            </a:avLst>
          </a:prstGeom>
          <a:solidFill>
            <a:srgbClr val="0A1F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04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+ aggregation paradox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2 US adults have linked via Plaid. The 2022 $58M class action is public. The same user who plugs Plaid into Monarch hand-redacts their bank statement before uploading it to NotebookLM.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Deloitte 2025/2026, MEXC 2026, Plaid 2026, Luminix industry report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LOVE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things the workflow does right.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Upload-and-ask in eight minutes -- fast time-to-first-answer.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citations. No hallucination about the user's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replaces dashboard navigation.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frameworks uploaded as separate sources.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opt-in and explicit. No Plaid link by default.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2423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check-in cadence feels natural -- once a month, refresh, ask.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persists inside a bounded notebook. Bounded memory is the right memory.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>
              <a:gd name="adj" fmla="val 12500"/>
            </a:avLst>
          </a:prstGeom>
          <a:solidFill>
            <a:srgbClr val="F5F5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in the existing finance apps. All of it is in the demand.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HATE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reasons the workflow does not survive contact with money.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wrong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environment. RAG-on-chunks hallucinates averages and sums.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pretends to be mobile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87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capped at 20 minutes, three per day. Two voices. No quick-log.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substrate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649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feed, no OCR, no voice. 50 sources / 500K words per source.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performative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422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tier trains on prompts. Workspace tier has telemetry. No on-device path.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ritual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1810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 check-in template. No subscription detector. No goal progress view.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non-shareable 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2587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Text-heavy. No shareable report. Audio is chatty, not precise.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audit trail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33649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cited passage. You do not see chunk boundaries, retrieval scores, or rejection criteria.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Hudson Labs 2026, Yahoo Finance / Android Police 2025, Remio 2026, r/notebooklm 2026, XDA follow-up 2026.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quadrant. Nobody owns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No-bank-link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Plaid-linked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0" cy="2743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4023360" cy="1188720"/>
          </a:xfrm>
          <a:prstGeom prst="rect">
            <a:avLst>
              <a:gd name="adj" fmla="val 6154"/>
            </a:avLst>
          </a:prstGeom>
          <a:solidFill>
            <a:srgbClr val="B897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POCKETLEDGER LIVES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+ private + grounded in your own papers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has the chat. The finance apps have the math. Nobody ships both on a phone, with no bank link.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4023360" cy="1188720"/>
          </a:xfrm>
          <a:prstGeom prst="rect">
            <a:avLst>
              <a:gd name="adj" fmla="val 6154"/>
            </a:avLst>
          </a:prstGeom>
          <a:solidFill>
            <a:srgbClr val="F5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468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OK  No-bank 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X  Mobile X  Privacy 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023360" cy="1188720"/>
          </a:xfrm>
          <a:prstGeom prst="rect">
            <a:avLst>
              <a:gd name="adj" fmla="val 6154"/>
            </a:avLst>
          </a:prstGeom>
          <a:solidFill>
            <a:srgbClr val="F5F5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Finny / Vera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OK  No-bank 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X  Citations X  Ritual 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4023360" cy="1188720"/>
          </a:xfrm>
          <a:prstGeom prst="rect">
            <a:avLst>
              <a:gd name="adj" fmla="val 6154"/>
            </a:avLst>
          </a:prstGeom>
          <a:solidFill>
            <a:srgbClr val="F5F5F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Monarch / Cleo / Rocket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OK  Math OK  Plaid-linked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No-bank X  On-device privacy 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38328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8328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PocketLedger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383280" y="3246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on-device AI finance notebook for your phone. The answer to the question the XDA article was trying to ask.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3108960"/>
            <a:ext cx="914400" cy="0"/>
          </a:xfrm>
          <a:prstGeom prst="line">
            <a:avLst/>
          </a:prstGeom>
          <a:noFill/>
          <a:ln w="25400">
            <a:solidFill>
              <a:srgbClr val="B89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Maya. Works for Daniel and Priya too.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926080"/>
          </a:xfrm>
          <a:prstGeom prst="rect">
            <a:avLst>
              <a:gd name="adj" fmla="val 3125"/>
            </a:avLst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PITCH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money, your model, your phone.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731520" cy="0"/>
          </a:xfrm>
          <a:prstGeom prst="line">
            <a:avLst/>
          </a:prstGeom>
          <a:noFill/>
          <a:ln w="25400">
            <a:solidFill>
              <a:srgbClr val="B89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WE OWN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notebook. Not a budgeting app. Not an AI coach. A new 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868680"/>
          </a:xfrm>
          <a:prstGeom prst="rect">
            <a:avLst>
              <a:gd name="adj" fmla="val 8421"/>
            </a:avLst>
          </a:prstGeom>
          <a:solidFill>
            <a:srgbClr val="F5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554480"/>
            <a:ext cx="73152" cy="86868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Maya, 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Designer, $42-68K, 1-2 cards, BNPL habit, privacy-conscious, AI-fluent.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532888"/>
            <a:ext cx="4023360" cy="868680"/>
          </a:xfrm>
          <a:prstGeom prst="rect">
            <a:avLst>
              <a:gd name="adj" fmla="val 8421"/>
            </a:avLst>
          </a:prstGeom>
          <a:solidFill>
            <a:srgbClr val="F5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532888"/>
            <a:ext cx="73152" cy="86868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Daniel, 41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624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arc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944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Married, two kids, freelancer, mixes personal + business, needs audit-ready exports.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11296"/>
            <a:ext cx="4023360" cy="868680"/>
          </a:xfrm>
          <a:prstGeom prst="rect">
            <a:avLst>
              <a:gd name="adj" fmla="val 8421"/>
            </a:avLst>
          </a:prstGeom>
          <a:solidFill>
            <a:srgbClr val="F5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511296"/>
            <a:ext cx="73152" cy="86868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6027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19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602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arc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922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College, first card, parents send money, wants streaks without shame.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PILLARS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pillars. One product.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pages, threads, goals, check-ins. The durable object of the user's life.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463040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47288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4728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photo, chat. Multimodal capture that fits a phone.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463040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54496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54496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citations, check-in card, audio recap. Every claim cited.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55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7216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next to the LLM. Numbers are reproducible, not sampled.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990088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47288" y="3355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Frameworks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47288" y="37216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library + free-form goal upload. The model reconciles goals against actuals.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2990088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54496" y="33558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Architecture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54496" y="37216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by default. Cloud opt-in, E2E encrypted. We cannot read the data.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502920"/>
          </a:xfrm>
          <a:prstGeom prst="rect">
            <a:avLst>
              <a:gd name="adj" fmla="val 9091"/>
            </a:avLst>
          </a:prstGeom>
          <a:solidFill>
            <a:srgbClr val="0A1F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Sharing + Social  --  Watermarked cards for stories, couples mode, accountant export, public notebooks.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SYMMETRY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inputs. Three outputs. One model.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834640"/>
          </a:xfrm>
          <a:prstGeom prst="rect">
            <a:avLst>
              <a:gd name="adj" fmla="val 3226"/>
            </a:avLst>
          </a:prstGeom>
          <a:solidFill>
            <a:srgbClr val="F5F5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money gets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"Spent fourteen fifty on lunch." On-device STT + intent parser. &lt;2s.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Receipt, statement, contract. On-device OCR + LLM extraction. &lt;3s for receipts.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05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conversation. "Where am I overspending?" "What changed in March?"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931920" cy="2834640"/>
          </a:xfrm>
          <a:prstGeom prst="rect">
            <a:avLst>
              <a:gd name="adj" fmla="val 3226"/>
            </a:avLst>
          </a:prstGeom>
          <a:solidFill>
            <a:srgbClr val="0A1F4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answers come back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citations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724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points to a source line. Tap to see the original. The trust wedge.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card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structured artifact. Top movers, anomalies, goal progress, aura.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recap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005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spoken summary. On-device TTS. Designed for the morning commute.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the math" is one tap on every number. The math engine is a separate process, not a feature of the LLM.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MAYA'S FIRST 30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install to first real win.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600200" cy="2377440"/>
          </a:xfrm>
          <a:prstGeom prst="rect">
            <a:avLst>
              <a:gd name="adj" fmla="val 4571"/>
            </a:avLst>
          </a:prstGeom>
          <a:solidFill>
            <a:srgbClr val="F5F5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6858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28MB, no signup. "No account needed. Your data lives on this phone." Pick a vibe.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67128" y="1508760"/>
            <a:ext cx="1600200" cy="2377440"/>
          </a:xfrm>
          <a:prstGeom prst="rect">
            <a:avLst>
              <a:gd name="adj" fmla="val 4571"/>
            </a:avLst>
          </a:prstGeom>
          <a:solidFill>
            <a:srgbClr val="F5F5F0"/>
          </a:solidFill>
          <a:ln/>
        </p:spPr>
      </p:sp>
      <p:sp>
        <p:nvSpPr>
          <p:cNvPr id="10" name="Text 8"/>
          <p:cNvSpPr/>
          <p:nvPr/>
        </p:nvSpPr>
        <p:spPr>
          <a:xfrm>
            <a:off x="2167128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58568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capture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24328" y="2377440"/>
            <a:ext cx="6858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receipt. 3 seconds later: "$4.75 at Blue Bottle, today 8:42am, Coffee. Looks right?"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77056" y="1508760"/>
            <a:ext cx="1600200" cy="2377440"/>
          </a:xfrm>
          <a:prstGeom prst="rect">
            <a:avLst>
              <a:gd name="adj" fmla="val 4571"/>
            </a:avLst>
          </a:prstGeom>
          <a:solidFill>
            <a:srgbClr val="F5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68496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voice entry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34256" y="2377440"/>
            <a:ext cx="6858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home: "Spent eighteen on Thai food." Swipe yes on the lock screen.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86984" y="1508760"/>
            <a:ext cx="1600200" cy="2377440"/>
          </a:xfrm>
          <a:prstGeom prst="rect">
            <a:avLst>
              <a:gd name="adj" fmla="val 4571"/>
            </a:avLst>
          </a:prstGeom>
          <a:solidFill>
            <a:srgbClr val="F5F5F0"/>
          </a:solidFill>
          <a:ln/>
        </p:spPr>
      </p:sp>
      <p:sp>
        <p:nvSpPr>
          <p:cNvPr id="20" name="Text 18"/>
          <p:cNvSpPr/>
          <p:nvPr/>
        </p:nvSpPr>
        <p:spPr>
          <a:xfrm>
            <a:off x="5586984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78424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check-in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44184" y="2377440"/>
            <a:ext cx="6858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7pm push. Top movers, anomalies, goal progress, aura. One tap to share.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96912" y="1508760"/>
            <a:ext cx="1600200" cy="2377440"/>
          </a:xfrm>
          <a:prstGeom prst="rect">
            <a:avLst>
              <a:gd name="adj" fmla="val 4571"/>
            </a:avLst>
          </a:prstGeom>
          <a:solidFill>
            <a:srgbClr val="F5F5F0"/>
          </a:solidFill>
          <a:ln/>
        </p:spPr>
      </p:sp>
      <p:sp>
        <p:nvSpPr>
          <p:cNvPr id="25" name="Text 23"/>
          <p:cNvSpPr/>
          <p:nvPr/>
        </p:nvSpPr>
        <p:spPr>
          <a:xfrm>
            <a:off x="7296912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88352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win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54112" y="2377440"/>
            <a:ext cx="6858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34072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 less than last month. Three things drove it. Friend downloads PocketLedger.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check-in ritual is the habit. Once a Sunday for 8 weeks, the switching cost is enormous.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the category. Funnel over ARPU in year one.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2743200"/>
          </a:xfrm>
          <a:prstGeom prst="rect">
            <a:avLst>
              <a:gd name="adj" fmla="val 2712"/>
            </a:avLst>
          </a:prstGeom>
          <a:solidFill>
            <a:srgbClr val="F5F5F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forever, no ads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224028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803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notebook, 5 pages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history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logs / day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model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curated framework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card, no share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697480" cy="2743200"/>
          </a:xfrm>
          <a:prstGeom prst="rect">
            <a:avLst>
              <a:gd name="adj" fmla="val 2712"/>
            </a:avLst>
          </a:prstGeom>
          <a:solidFill>
            <a:srgbClr val="0A1F44"/>
          </a:solidFill>
          <a:ln/>
        </p:spPr>
      </p:sp>
      <p:sp>
        <p:nvSpPr>
          <p:cNvPr id="11" name="Shape 9"/>
          <p:cNvSpPr/>
          <p:nvPr/>
        </p:nvSpPr>
        <p:spPr>
          <a:xfrm>
            <a:off x="3264408" y="1417320"/>
            <a:ext cx="2697480" cy="73152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93008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or $39.99/yr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3008" y="2788920"/>
            <a:ext cx="224028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8803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frameworks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link (opt-in)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mode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export (PDF + CSV)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cloud sync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1417320"/>
            <a:ext cx="2697480" cy="2743200"/>
          </a:xfrm>
          <a:prstGeom prst="rect">
            <a:avLst>
              <a:gd name="adj" fmla="val 2712"/>
            </a:avLst>
          </a:prstGeom>
          <a:solidFill>
            <a:srgbClr val="F5F5F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0216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00216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up to 5 devices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0216" y="2788920"/>
            <a:ext cx="224028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8803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notebook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notebooks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mode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+ visibility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cloud sync</a:t>
            </a:r>
            <a:endParaRPr lang="en-US" sz="1000" dirty="0"/>
          </a:p>
          <a:p>
            <a:pPr marL="342900" indent="-342900">
              <a:buSzPct val="100000"/>
              <a:buChar char="■"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on-device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502920"/>
          </a:xfrm>
          <a:prstGeom prst="rect">
            <a:avLst>
              <a:gd name="adj" fmla="val 9091"/>
            </a:avLst>
          </a:prstGeom>
          <a:solidFill>
            <a:srgbClr val="B8972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Weekly Check-ins Completed (WCC). Anti-metric: bank accounts linked -- we want this low.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38328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8328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383280" y="3108960"/>
            <a:ext cx="914400" cy="0"/>
          </a:xfrm>
          <a:prstGeom prst="line">
            <a:avLst/>
          </a:prstGeom>
          <a:noFill/>
          <a:ln w="25400">
            <a:solidFill>
              <a:srgbClr val="B89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3246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online-second, model-hot-swappable, structurally private. Designed so the company cannot read user data even if it wanted 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TOP-DOWN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by dependency, not by importance.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914400" cy="548640"/>
          </a:xfrm>
          <a:prstGeom prst="rect">
            <a:avLst>
              <a:gd name="adj" fmla="val 8333"/>
            </a:avLst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1463040"/>
            <a:ext cx="7223760" cy="548640"/>
          </a:xfrm>
          <a:prstGeom prst="rect">
            <a:avLst>
              <a:gd name="adj" fmla="val 8333"/>
            </a:avLst>
          </a:prstGeom>
          <a:solidFill>
            <a:srgbClr val="F5F5F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5361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7556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/ Web / Watch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914400" cy="548640"/>
          </a:xfrm>
          <a:prstGeom prst="rect">
            <a:avLst>
              <a:gd name="adj" fmla="val 8333"/>
            </a:avLst>
          </a:prstGeom>
          <a:solidFill>
            <a:srgbClr val="B897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63040" y="2084832"/>
            <a:ext cx="7223760" cy="548640"/>
          </a:xfrm>
          <a:prstGeom prst="rect">
            <a:avLst>
              <a:gd name="adj" fmla="val 8333"/>
            </a:avLst>
          </a:prstGeom>
          <a:solidFill>
            <a:srgbClr val="F5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1579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2377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tool router, citation engine, persona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914400" cy="548640"/>
          </a:xfrm>
          <a:prstGeom prst="rect">
            <a:avLst>
              <a:gd name="adj" fmla="val 8333"/>
            </a:avLst>
          </a:prstGeom>
          <a:solidFill>
            <a:srgbClr val="0A1F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066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3040" y="2706624"/>
            <a:ext cx="7223760" cy="548640"/>
          </a:xfrm>
          <a:prstGeom prst="rect">
            <a:avLst>
              <a:gd name="adj" fmla="val 8333"/>
            </a:avLst>
          </a:prstGeom>
          <a:solidFill>
            <a:srgbClr val="F5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77977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9992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+ deterministic math + OCR + optional cloud LLM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914400" cy="548640"/>
          </a:xfrm>
          <a:prstGeom prst="rect">
            <a:avLst>
              <a:gd name="adj" fmla="val 8333"/>
            </a:avLst>
          </a:prstGeom>
          <a:solidFill>
            <a:srgbClr val="B897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284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463040" y="3328416"/>
            <a:ext cx="7223760" cy="548640"/>
          </a:xfrm>
          <a:prstGeom prst="rect">
            <a:avLst>
              <a:gd name="adj" fmla="val 8333"/>
            </a:avLst>
          </a:prstGeom>
          <a:solidFill>
            <a:srgbClr val="F5F5F0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34015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6210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notebook store + source graph + E2E sync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914400" cy="548640"/>
          </a:xfrm>
          <a:prstGeom prst="rect">
            <a:avLst>
              <a:gd name="adj" fmla="val 8333"/>
            </a:avLst>
          </a:prstGeom>
          <a:solidFill>
            <a:srgbClr val="0A1F4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50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463040" y="3950208"/>
            <a:ext cx="7223760" cy="548640"/>
          </a:xfrm>
          <a:prstGeom prst="rect">
            <a:avLst>
              <a:gd name="adj" fmla="val 8333"/>
            </a:avLst>
          </a:prstGeom>
          <a:solidFill>
            <a:srgbClr val="F5F5F0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40233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424281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FM / Android AICore / WebGPU / Whisper / Keystore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never knows which model is on the other side. The platform never knows what the user asked. The company never sees the data.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by default. Cloud for what the local model cannot do.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17520"/>
          </a:xfrm>
          <a:prstGeom prst="rect">
            <a:avLst>
              <a:gd name="adj" fmla="val 2424"/>
            </a:avLst>
          </a:prstGeom>
          <a:solidFill>
            <a:srgbClr val="F5F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365760"/>
          </a:xfrm>
          <a:prstGeom prst="rect">
            <a:avLst>
              <a:gd name="adj" fmla="val 20000"/>
            </a:avLst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(default, forever)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258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OCR (receipts, statements)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551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categorization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group / delta / trend / projection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reconciliation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composition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citations, short context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463040"/>
            <a:ext cx="4023360" cy="3017520"/>
          </a:xfrm>
          <a:prstGeom prst="rect">
            <a:avLst>
              <a:gd name="adj" fmla="val 2424"/>
            </a:avLst>
          </a:prstGeom>
          <a:solidFill>
            <a:srgbClr val="F5F5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463040"/>
            <a:ext cx="4023360" cy="365760"/>
          </a:xfrm>
          <a:prstGeom prst="rect">
            <a:avLst>
              <a:gd name="adj" fmla="val 20000"/>
            </a:avLst>
          </a:prstGeom>
          <a:solidFill>
            <a:srgbClr val="B8972E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(Pro tier, opt-in, E2E)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chat (multi-year)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258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if" scenario modeling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2551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contract Q&amp;A (v1.5)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843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Tax-prep handoff (v2.0)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onramp summaries (v2.0)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retention contract with provider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audit log on device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the task can be done by reading the user's own notebook deterministically, it stays on-device. Always.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enforces the privacy. Not the policy page.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HIERARCHY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91440" cy="50292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256-bit. Generated on install. Never leaves OS keystore (Secure Enclave / StrongBox / WebCrypto).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91440" cy="50292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via HKDF. Rotated on notebook delete.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91440" cy="50292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71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notebook. Allows per-source revocation.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3566160"/>
            <a:ext cx="91440" cy="502920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envelope key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wraps master for cross-device sync. We never see it unwrapped.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SYNC FLOW (Pro tier, opt-in)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783080"/>
            <a:ext cx="3931920" cy="502920"/>
          </a:xfrm>
          <a:prstGeom prst="rect">
            <a:avLst>
              <a:gd name="adj" fmla="val 9091"/>
            </a:avLst>
          </a:prstGeom>
          <a:solidFill>
            <a:srgbClr val="F5F5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783080"/>
            <a:ext cx="1188720" cy="502920"/>
          </a:xfrm>
          <a:prstGeom prst="rect">
            <a:avLst>
              <a:gd name="adj" fmla="val 9091"/>
            </a:avLst>
          </a:prstGeom>
          <a:solidFill>
            <a:srgbClr val="0A1F44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cloudEnvelopeKey, encrypts master key locally, uploads ciphertext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3931920" cy="502920"/>
          </a:xfrm>
          <a:prstGeom prst="rect">
            <a:avLst>
              <a:gd name="adj" fmla="val 9091"/>
            </a:avLst>
          </a:prstGeom>
          <a:solidFill>
            <a:srgbClr val="F5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377440"/>
            <a:ext cx="1188720" cy="502920"/>
          </a:xfrm>
          <a:prstGeom prst="rect">
            <a:avLst>
              <a:gd name="adj" fmla="val 9091"/>
            </a:avLst>
          </a:prstGeom>
          <a:solidFill>
            <a:srgbClr val="0A1F44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/ Google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ciphertext in their app-data scope. Cannot decrypt. Cannot read.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3931920" cy="502920"/>
          </a:xfrm>
          <a:prstGeom prst="rect">
            <a:avLst>
              <a:gd name="adj" fmla="val 9091"/>
            </a:avLst>
          </a:prstGeom>
          <a:solidFill>
            <a:srgbClr val="F5F5F0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971800"/>
            <a:ext cx="1188720" cy="502920"/>
          </a:xfrm>
          <a:prstGeom prst="rect">
            <a:avLst>
              <a:gd name="adj" fmla="val 9091"/>
            </a:avLst>
          </a:prstGeom>
          <a:solidFill>
            <a:srgbClr val="0A1F4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ciphertext, asks Device A for envelope key over local network or 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3931920" cy="502920"/>
          </a:xfrm>
          <a:prstGeom prst="rect">
            <a:avLst>
              <a:gd name="adj" fmla="val 9091"/>
            </a:avLst>
          </a:prstGeom>
          <a:solidFill>
            <a:srgbClr val="F5F5F0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566160"/>
            <a:ext cx="1188720" cy="502920"/>
          </a:xfrm>
          <a:prstGeom prst="rect">
            <a:avLst>
              <a:gd name="adj" fmla="val 9091"/>
            </a:avLst>
          </a:prstGeom>
          <a:solidFill>
            <a:srgbClr val="0A1F44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master key locally. Cloud stores only ciphertext. Forever.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8229600" cy="411480"/>
          </a:xfrm>
          <a:prstGeom prst="rect">
            <a:avLst>
              <a:gd name="adj" fmla="val 11111"/>
            </a:avLst>
          </a:prstGeom>
          <a:solidFill>
            <a:srgbClr val="B8972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read the notebook. Apple and Google cannot read the notebook. GDPR right-to-erasure is delete-the-app.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category is hiding inside one headline.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914400" cy="0"/>
          </a:xfrm>
          <a:prstGeom prst="line">
            <a:avLst/>
          </a:prstGeom>
          <a:noFill/>
          <a:ln w="25400">
            <a:solidFill>
              <a:srgbClr val="B89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Post-Mint, AI-fluent, financially anxious, mobile-first. NotebookLM surfaced the signal because it was the only tool that already existed.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empty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+ grounded + on-device + mobile + no-bank-link + the math. Nobody owns this quadrant.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B897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structural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model hot-swap. Deterministic math engine. E2E envelope. Source graph + citations. Check-in ritual. None of this is easy to copy.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594360"/>
          </a:xfrm>
          <a:prstGeom prst="rect">
            <a:avLst>
              <a:gd name="adj" fmla="val 7692"/>
            </a:avLst>
          </a:prstGeom>
          <a:solidFill>
            <a:srgbClr val="B897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ship the spine in Q1. iOS + Android v1.0. On-device chat + math + voice + photo. Free forever. The category will follow.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tiers. Four run on the user's phone. One is opt-in cloud.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" cy="566928"/>
          </a:xfrm>
          <a:prstGeom prst="rect">
            <a:avLst>
              <a:gd name="adj" fmla="val 8065"/>
            </a:avLst>
          </a:prstGeom>
          <a:solidFill>
            <a:srgbClr val="0A1F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6217920" cy="566928"/>
          </a:xfrm>
          <a:prstGeom prst="rect">
            <a:avLst>
              <a:gd name="adj" fmla="val 8065"/>
            </a:avLst>
          </a:prstGeom>
          <a:solidFill>
            <a:srgbClr val="F5F5F0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087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(bge-small / Gemma embed)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the source graph. 33M params, 130MB. Runs on NPU.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0" y="1463040"/>
            <a:ext cx="100584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4630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2103120"/>
            <a:ext cx="6217920" cy="566928"/>
          </a:xfrm>
          <a:prstGeom prst="rect">
            <a:avLst>
              <a:gd name="adj" fmla="val 8065"/>
            </a:avLst>
          </a:prstGeom>
          <a:solidFill>
            <a:srgbClr val="F5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21488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(Claude Haiku 4.5 + Sonnet 4.6)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opt-in. E2E encrypted. Zero retention. BAA. Deep analysis only.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80960" y="2103120"/>
            <a:ext cx="100584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1031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$0.07/user/mo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" cy="566928"/>
          </a:xfrm>
          <a:prstGeom prst="rect">
            <a:avLst>
              <a:gd name="adj" fmla="val 8065"/>
            </a:avLst>
          </a:prstGeom>
          <a:solidFill>
            <a:srgbClr val="0A1F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43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" y="2743200"/>
            <a:ext cx="6217920" cy="566928"/>
          </a:xfrm>
          <a:prstGeom prst="rect">
            <a:avLst>
              <a:gd name="adj" fmla="val 8065"/>
            </a:avLst>
          </a:prstGeom>
          <a:solidFill>
            <a:srgbClr val="F5F5F0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27889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fallback: Phi-3 Mini 3.8B / Gemma 3 4B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older iPhones / Android without AICore. 4-bit quantized, 2.3-2.5GB.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2743200"/>
            <a:ext cx="100584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27432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832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71600" y="3383280"/>
            <a:ext cx="6217920" cy="566928"/>
          </a:xfrm>
          <a:prstGeom prst="rect">
            <a:avLst>
              <a:gd name="adj" fmla="val 8065"/>
            </a:avLst>
          </a:prstGeom>
          <a:solidFill>
            <a:srgbClr val="F5F5F0"/>
          </a:solidFill>
          <a:ln/>
        </p:spPr>
      </p:sp>
      <p:sp>
        <p:nvSpPr>
          <p:cNvPr id="28" name="Text 26"/>
          <p:cNvSpPr/>
          <p:nvPr/>
        </p:nvSpPr>
        <p:spPr>
          <a:xfrm>
            <a:off x="1508760" y="3429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OS-provided: Apple Foundation Models 3B / Gemini Nano 3.25B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Apple / Google. Ships in the OS. Zero bundle cost.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80960" y="3383280"/>
            <a:ext cx="100584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33832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" cy="566928"/>
          </a:xfrm>
          <a:prstGeom prst="rect">
            <a:avLst>
              <a:gd name="adj" fmla="val 8065"/>
            </a:avLst>
          </a:prstGeom>
          <a:solidFill>
            <a:srgbClr val="0A1F4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233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71600" y="4023360"/>
            <a:ext cx="6217920" cy="566928"/>
          </a:xfrm>
          <a:prstGeom prst="rect">
            <a:avLst>
              <a:gd name="adj" fmla="val 8065"/>
            </a:avLst>
          </a:prstGeom>
          <a:solidFill>
            <a:srgbClr val="F5F5F0"/>
          </a:solidFill>
          <a:ln/>
        </p:spPr>
      </p:sp>
      <p:sp>
        <p:nvSpPr>
          <p:cNvPr id="35" name="Text 33"/>
          <p:cNvSpPr/>
          <p:nvPr/>
        </p:nvSpPr>
        <p:spPr>
          <a:xfrm>
            <a:off x="1508760" y="40690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FunctionGemma 270M (the traffic controller)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0876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queries to tools. 50 tok/s on phone. 0.3s TTFT. Fine-tuned on our 50-tool API.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4023360"/>
            <a:ext cx="1005840" cy="566928"/>
          </a:xfrm>
          <a:prstGeom prst="rect">
            <a:avLst>
              <a:gd name="adj" fmla="val 8065"/>
            </a:avLst>
          </a:prstGeom>
          <a:solidFill>
            <a:srgbClr val="B8972E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40233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IS IT TO USE?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moments. Measured in seconds.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13232"/>
          </a:xfrm>
          <a:prstGeom prst="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005840" cy="713232"/>
          </a:xfrm>
          <a:prstGeom prst="rect">
            <a:avLst>
              <a:gd name="adj" fmla="val 6410"/>
            </a:avLst>
          </a:prstGeom>
          <a:solidFill>
            <a:srgbClr val="0A1F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 first 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of app time, 85s of human. All on-device, all private.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5544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8229600" cy="713232"/>
          </a:xfrm>
          <a:prstGeom prst="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59152"/>
            <a:ext cx="1005840" cy="713232"/>
          </a:xfrm>
          <a:prstGeom prst="rect">
            <a:avLst>
              <a:gd name="adj" fmla="val 6410"/>
            </a:avLst>
          </a:prstGeom>
          <a:solidFill>
            <a:srgbClr val="0A1F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915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weekly check-in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movers, anomalies, goal progress, aura, watermarked share.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35915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8229600" cy="713232"/>
          </a:xfrm>
          <a:prstGeom prst="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1005840" cy="713232"/>
          </a:xfrm>
          <a:prstGeom prst="rect">
            <a:avLst>
              <a:gd name="adj" fmla="val 6410"/>
            </a:avLst>
          </a:prstGeom>
          <a:solidFill>
            <a:srgbClr val="0A1F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6382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255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chat query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529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am I overspending?" Cited answer, tappable sources.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16382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 to first token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8229600" cy="713232"/>
          </a:xfrm>
          <a:prstGeom prst="rect">
            <a:avLst>
              <a:gd name="adj" fmla="val 6410"/>
            </a:avLst>
          </a:prstGeom>
          <a:solidFill>
            <a:srgbClr val="F5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968496"/>
            <a:ext cx="1005840" cy="713232"/>
          </a:xfrm>
          <a:prstGeom prst="rect">
            <a:avLst>
              <a:gd name="adj" fmla="val 6410"/>
            </a:avLst>
          </a:prstGeom>
          <a:solidFill>
            <a:srgbClr val="0A1F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6849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export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4334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CSV with receipt thumbnails. Faster than opening Excel.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39684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 for 30 days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8229600" cy="411480"/>
          </a:xfrm>
          <a:prstGeom prst="rect">
            <a:avLst>
              <a:gd name="adj" fmla="val 11111"/>
            </a:avLst>
          </a:prstGeom>
          <a:solidFill>
            <a:srgbClr val="B897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rules: zero taps to value, no forms, no dashboard before data, every number ships with its calculation, every claim is cited.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to ship. $141K/mo at 100K MAU.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(one-time, v1.0 ship)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(2 designers x 6mo)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1737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engineering (2 x 6mo)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993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engineering (2 x 6mo)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249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(1 x 4mo)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505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on-device (1 x 6mo)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7614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(1 x 6mo)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017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+ assets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2735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(BAA, privacy, ToS)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5295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3931920" cy="274320"/>
          </a:xfrm>
          <a:prstGeom prst="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85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7856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(monthly, at 100K MAU)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(8 people, loaded)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(UA + content)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(Pro opt-in)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22494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(Pro opt-in)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5054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 (Dokploy)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2761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(Sentry, ASO, Notion)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3017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BAA (amortized)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32735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Apple/Google dev fees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3529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$0.03K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785616"/>
            <a:ext cx="4023360" cy="274320"/>
          </a:xfrm>
          <a:prstGeom prst="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3785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9520" y="37856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8229600" cy="411480"/>
          </a:xfrm>
          <a:prstGeom prst="rect">
            <a:avLst>
              <a:gd name="adj" fmla="val 11111"/>
            </a:avLst>
          </a:prstGeom>
          <a:solidFill>
            <a:srgbClr val="B8972E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 on the free tier is $0. The on-device model runs on the user's phone. Cloud LLM is only for Pro deep analysis.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beat the category on every metric except ARPU.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(Y3)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healthy: 3-5x. We hit 5.5x.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463040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64408" y="1463040"/>
            <a:ext cx="2697480" cy="54864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7.3mo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(Y3)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healthy: &lt;12mo. We hit 7.3.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463040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1616" y="1463040"/>
            <a:ext cx="2697480" cy="54864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645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54496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(Y3)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= near-zero variable cost.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90088"/>
            <a:ext cx="2697480" cy="54864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-&gt; Pro conversion (Y3)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041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Monarch 5-7%, Rocket 11% (we win mid-funnel).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2990088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64408" y="2990088"/>
            <a:ext cx="2697480" cy="54864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26" name="Text 24"/>
          <p:cNvSpPr/>
          <p:nvPr/>
        </p:nvSpPr>
        <p:spPr>
          <a:xfrm>
            <a:off x="3447288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447288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CPI (US)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47288" y="4041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Finance $11.62 global, $4.10 US Apple Search Ads.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71616" y="2990088"/>
            <a:ext cx="2697480" cy="1417320"/>
          </a:xfrm>
          <a:prstGeom prst="rect">
            <a:avLst>
              <a:gd name="adj" fmla="val 5161"/>
            </a:avLst>
          </a:prstGeom>
          <a:solidFill>
            <a:srgbClr val="F5F5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71616" y="2990088"/>
            <a:ext cx="2697480" cy="54864"/>
          </a:xfrm>
          <a:prstGeom prst="rect">
            <a:avLst/>
          </a:prstGeom>
          <a:solidFill>
            <a:srgbClr val="B8972E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254496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variable cost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4496" y="4041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 on the free tier is free to us.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(Y3): Monarch $9.50 ARPU / 80% margin / 8-12mo payback. YNAB $9.08 / 85% / 6-9mo. PocketLedger $5.10 / 94% / 7.3mo. We win on margin + payback; they win on ARPU.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P&amp;L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in Year 4 at ~$25M ARR. $58.5M total capital required.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0936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04088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0" y="1691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1965960"/>
            <a:ext cx="3200400" cy="0"/>
          </a:xfrm>
          <a:prstGeom prst="line">
            <a:avLst/>
          </a:prstGeom>
          <a:noFill/>
          <a:ln w="12700">
            <a:solidFill>
              <a:srgbClr val="B897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(avg)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4088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0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subs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2304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40880" y="2304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72400" y="2304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03920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09360" y="2596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$144K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40880" y="2596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2596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03920" y="2596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86400" y="2889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09360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040880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772400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503920" y="2889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0" y="3182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309360" y="3182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($1.5M)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040880" y="3182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($3.6M)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($3.6M)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503920" y="3182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48640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(Pro)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30936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0.6x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04088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77240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50392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0" y="3767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(mo)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309360" y="3767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040880" y="3767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772400" y="3767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50392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Pre-seed $500K -&gt; Seed $3M -&gt; Series A $15M -&gt; Series B $40M -&gt; profitable at $25M ARR. ~$58.5M total raised.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AI. Zero variable cost. 18-month window.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914400" cy="0"/>
          </a:xfrm>
          <a:prstGeom prst="line">
            <a:avLst/>
          </a:prstGeom>
          <a:noFill/>
          <a:ln w="25400">
            <a:solidFill>
              <a:srgbClr val="B89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private, on-device AI finance notebook for the post-Mint, AI-native generation. $58.5M to break-even at $25M ARR. 8.5x MOIC at the median exit."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456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by Y3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2990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healthy 3-5x. We sit at the top.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by Y3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= near-zero variable cost.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$58.5M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to break-even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3995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Four years. Profitable at $25M ARR.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457200"/>
          </a:xfrm>
          <a:prstGeom prst="rect">
            <a:avLst>
              <a:gd name="adj" fmla="val 10000"/>
            </a:avLst>
          </a:prstGeom>
          <a:solidFill>
            <a:srgbClr val="B897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close the $500K pre-seed, ship the iOS prototype in 8 weeks, capture the XDA signal by Q1 2027.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PocketLedger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PocketLedger - Platform Strategy &amp; Architecture</dc:title>
  <dc:subject>PptxGenJS Presentation</dc:subject>
  <dc:creator>PocketLedger Strategy Team</dc:creator>
  <cp:lastModifiedBy>PocketLedger Strategy Team</cp:lastModifiedBy>
  <cp:revision>1</cp:revision>
  <dcterms:created xsi:type="dcterms:W3CDTF">2026-07-18T04:24:41Z</dcterms:created>
  <dcterms:modified xsi:type="dcterms:W3CDTF">2026-07-18T04:24:41Z</dcterms:modified>
</cp:coreProperties>
</file>